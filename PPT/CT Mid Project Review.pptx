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Bricolage Grotesque Bold" charset="1" panose="020B0605040402000204"/>
      <p:regular r:id="rId30"/>
    </p:embeddedFont>
    <p:embeddedFont>
      <p:font typeface="Bricolage Grotesque" charset="1" panose="020B0605040402000204"/>
      <p:regular r:id="rId31"/>
    </p:embeddedFont>
    <p:embeddedFont>
      <p:font typeface="Canva Sans" charset="1" panose="020B0503030501040103"/>
      <p:regular r:id="rId32"/>
    </p:embeddedFont>
    <p:embeddedFont>
      <p:font typeface="IBM Plex Serif" charset="1" panose="020605030504060002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90314" y="-31710"/>
            <a:ext cx="7397686" cy="1887776"/>
          </a:xfrm>
          <a:custGeom>
            <a:avLst/>
            <a:gdLst/>
            <a:ahLst/>
            <a:cxnLst/>
            <a:rect r="r" b="b" t="t" l="l"/>
            <a:pathLst>
              <a:path h="1887776" w="7397686">
                <a:moveTo>
                  <a:pt x="0" y="0"/>
                </a:moveTo>
                <a:lnTo>
                  <a:pt x="7397686" y="0"/>
                </a:lnTo>
                <a:lnTo>
                  <a:pt x="7397686" y="1887776"/>
                </a:lnTo>
                <a:lnTo>
                  <a:pt x="0" y="1887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3" r="0" b="-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185" y="9607550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8388" y="-81240"/>
            <a:ext cx="1103344" cy="4832310"/>
            <a:chOff x="0" y="0"/>
            <a:chExt cx="290593" cy="1272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0593" cy="1272707"/>
            </a:xfrm>
            <a:custGeom>
              <a:avLst/>
              <a:gdLst/>
              <a:ahLst/>
              <a:cxnLst/>
              <a:rect r="r" b="b" t="t" l="l"/>
              <a:pathLst>
                <a:path h="1272707" w="290593">
                  <a:moveTo>
                    <a:pt x="145296" y="0"/>
                  </a:moveTo>
                  <a:lnTo>
                    <a:pt x="145296" y="0"/>
                  </a:lnTo>
                  <a:cubicBezTo>
                    <a:pt x="225541" y="0"/>
                    <a:pt x="290593" y="65051"/>
                    <a:pt x="290593" y="145296"/>
                  </a:cubicBezTo>
                  <a:lnTo>
                    <a:pt x="290593" y="1127411"/>
                  </a:lnTo>
                  <a:cubicBezTo>
                    <a:pt x="290593" y="1207656"/>
                    <a:pt x="225541" y="1272707"/>
                    <a:pt x="145296" y="1272707"/>
                  </a:cubicBezTo>
                  <a:lnTo>
                    <a:pt x="145296" y="1272707"/>
                  </a:lnTo>
                  <a:cubicBezTo>
                    <a:pt x="65051" y="1272707"/>
                    <a:pt x="0" y="1207656"/>
                    <a:pt x="0" y="1127411"/>
                  </a:cubicBezTo>
                  <a:lnTo>
                    <a:pt x="0" y="145296"/>
                  </a:lnTo>
                  <a:cubicBezTo>
                    <a:pt x="0" y="65051"/>
                    <a:pt x="65051" y="0"/>
                    <a:pt x="145296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90593" cy="1320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3511" y="2102149"/>
            <a:ext cx="17240977" cy="16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3621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25AIC115 Introduction to Cyber Physical Systems and Control Theory –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6989" y="6340909"/>
            <a:ext cx="1044493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Dhiren Vasudeva(CB.AI.U4CPS25014) 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Pardhav Reddy(CB.AI.U4CPS25059)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Poovya.S(CB.AI.U4CPS25061)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Ch.Venkata Abhiram(CB.AI.U4CPS25012)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88815" y="5957687"/>
            <a:ext cx="2738557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9: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83" y="4695825"/>
            <a:ext cx="18026244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“Mini Air Defence System”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4868339" y="4055111"/>
            <a:ext cx="18026244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TITLE: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228" y="838200"/>
            <a:ext cx="15344895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Contents of presenta</a:t>
            </a:r>
            <a:r>
              <a:rPr lang="en-US" sz="9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08356" y="38952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94635"/>
            <a:ext cx="9391516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I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ntroduction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Recap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Objectives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Hardware Components Used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Software Tools Used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Methodology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508356" y="38952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03570" y="2794635"/>
            <a:ext cx="8323061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8. Impleme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ntation Setup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Results &amp; Observations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Applications, Limitations &amp;   Future Enhancements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11. </a:t>
            </a: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 &amp; Reference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130013" y="1006382"/>
            <a:ext cx="15344895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Problem Statement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08356" y="38952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5898" y="3566478"/>
            <a:ext cx="17436203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Traditional security systems either detect everything blindly (ultrasonic) or require constant human monitoring. There is a need for an intelligent, low-cost system that can identify specific threat objects, distinguish safe targets, and trigger a response automatically or on command — with remote notification capability.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508356" y="38952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63800"/>
            <a:ext cx="6546056" cy="31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Intr</a:t>
            </a:r>
            <a:r>
              <a:rPr lang="en-US" sz="9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oduction</a:t>
            </a:r>
          </a:p>
          <a:p>
            <a:pPr algn="ctr">
              <a:lnSpc>
                <a:spcPts val="126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24917"/>
            <a:ext cx="16230600" cy="664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 Air Defence System is a smart detection and response system designed to identify specific objects and trigger an action.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specific objects using computer vision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previous ultrasonic-based detection system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manual override shooting mechanism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Applications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Civilian security areas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Small military camps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Restricted zones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56153" y="4466588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66586"/>
            <a:ext cx="17688797" cy="155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Real World Air Defence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744" y="2177387"/>
            <a:ext cx="16384290" cy="73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air defence systems operate on similar principles but with advanced technology.</a:t>
            </a:r>
          </a:p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 include: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Iron Dome (Israel) – intercepts short-range rockets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Patriot Missile System (USA) – surface-to-air missile defense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S-400 (Russia) – long-range air defense system</a:t>
            </a:r>
          </a:p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prototype demonstrates the basic working concept of these systems using low-cost components.</a:t>
            </a:r>
          </a:p>
          <a:p>
            <a:pPr algn="l">
              <a:lnSpc>
                <a:spcPts val="53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832142" y="339090"/>
            <a:ext cx="1347404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Previous Semester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010" y="1454237"/>
            <a:ext cx="16384290" cy="827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Components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Ultrasonic Sensor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Servo Motor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Microcontroller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Trigger Mechanism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Working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object using ultrasonic distance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Rotate servo motor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Activate shooting mechanism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Limitations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Cannot identify objects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Detects all obstacles</a:t>
            </a:r>
          </a:p>
          <a:p>
            <a:pPr algn="l" marL="777246" indent="-388623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intelligent detection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194305" y="634578"/>
            <a:ext cx="1663044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Improvements in Current Semester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010" y="1924616"/>
            <a:ext cx="16384290" cy="731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ew features added: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Camera module for vision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YOLOv11 object detection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Detection of specific objects:</a:t>
            </a:r>
          </a:p>
          <a:p>
            <a:pPr algn="l" marL="1640851" indent="-546950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Phone</a:t>
            </a:r>
          </a:p>
          <a:p>
            <a:pPr algn="l" marL="1640851" indent="-546950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 Card</a:t>
            </a:r>
          </a:p>
          <a:p>
            <a:pPr algn="l" marL="1640851" indent="-546950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Bottle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Manual shoot button added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accurate targeting system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of Telegram </a:t>
            </a:r>
          </a:p>
          <a:p>
            <a:pPr algn="l" marL="820425" indent="-410213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Included website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19702" y="3913378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170625" y="2309223"/>
          <a:ext cx="16088675" cy="6680997"/>
        </p:xfrm>
        <a:graphic>
          <a:graphicData uri="http://schemas.openxmlformats.org/drawingml/2006/table">
            <a:tbl>
              <a:tblPr/>
              <a:tblGrid>
                <a:gridCol w="1978126"/>
                <a:gridCol w="4465092"/>
                <a:gridCol w="4975028"/>
                <a:gridCol w="4670429"/>
              </a:tblGrid>
              <a:tr h="1115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How Our Work Differs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Author /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Work Done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Gap Identified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</a:tr>
              <a:tr h="14752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 embed YOLOv8/v11 inside a closed-loop CPS with servo + Telegram alerts.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Redmon et al., 2016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Introduced YOLO — a single-stage real-time object detection architecture.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Generic detector — no integration with physical actuators or alert systems.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9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 deploy YOLO on CPU + Arduino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Sohan et al.,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Reviewed YOLOv8 — benchmarked accuracy and speed against v5/v7.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Survey only; no deployment on resource-constrained edge hardware.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52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 add servo-aimed response + manual override for active defense.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Springer,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YOLOv8 smart surveillance CCTV system, reporting 96% detection accuracy.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Passive monitoring only — no physical response or actuation layer.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52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Our YOLO layer classifies targets and ignores persons (green/red logic).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IJSAT, 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Survey of Arduino-based defense radars using ultrasonic + servo turrets.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Ultrasonic detects all obstacles — cannot classify threat vs. safe object.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466586"/>
            <a:ext cx="17688797" cy="155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Literature 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119006" y="857250"/>
            <a:ext cx="18158441" cy="14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SOFT</a:t>
            </a:r>
            <a:r>
              <a:rPr lang="en-US" sz="85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WARE TOOLS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76422"/>
            <a:ext cx="15010736" cy="738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073" indent="-411536" lvl="1">
              <a:lnSpc>
                <a:spcPts val="5337"/>
              </a:lnSpc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Simulink</a:t>
            </a:r>
          </a:p>
          <a:p>
            <a:pPr algn="l" marL="823073" indent="-411536" lvl="1">
              <a:lnSpc>
                <a:spcPts val="5337"/>
              </a:lnSpc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l" marL="823073" indent="-411536" lvl="1">
              <a:lnSpc>
                <a:spcPts val="5337"/>
              </a:lnSpc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YOLOv</a:t>
            </a: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 Object Detection</a:t>
            </a:r>
          </a:p>
          <a:p>
            <a:pPr algn="l" marL="823073" indent="-411536" lvl="1">
              <a:lnSpc>
                <a:spcPts val="5337"/>
              </a:lnSpc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OpenCV</a:t>
            </a:r>
          </a:p>
          <a:p>
            <a:pPr algn="l" marL="823073" indent="-411536" lvl="1">
              <a:lnSpc>
                <a:spcPts val="5337"/>
              </a:lnSpc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Embedded Control Programm</a:t>
            </a: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ing</a:t>
            </a:r>
          </a:p>
          <a:p>
            <a:pPr algn="l" marL="823073" indent="-411536" lvl="1">
              <a:lnSpc>
                <a:spcPts val="5337"/>
              </a:lnSpc>
              <a:spcBef>
                <a:spcPct val="0"/>
              </a:spcBef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Processing</a:t>
            </a:r>
          </a:p>
          <a:p>
            <a:pPr algn="l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ataset Used</a:t>
            </a:r>
          </a:p>
          <a:p>
            <a:pPr algn="l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Custom dataset trained for:</a:t>
            </a:r>
          </a:p>
          <a:p>
            <a:pPr algn="l" marL="823073" indent="-411536" lvl="1">
              <a:lnSpc>
                <a:spcPts val="5337"/>
              </a:lnSpc>
              <a:spcBef>
                <a:spcPct val="0"/>
              </a:spcBef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Phone</a:t>
            </a:r>
          </a:p>
          <a:p>
            <a:pPr algn="l" marL="823073" indent="-411536" lvl="1">
              <a:lnSpc>
                <a:spcPts val="5337"/>
              </a:lnSpc>
              <a:spcBef>
                <a:spcPct val="0"/>
              </a:spcBef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 card</a:t>
            </a:r>
          </a:p>
          <a:p>
            <a:pPr algn="l" marL="823073" indent="-411536" lvl="1">
              <a:lnSpc>
                <a:spcPts val="5337"/>
              </a:lnSpc>
              <a:spcBef>
                <a:spcPct val="0"/>
              </a:spcBef>
              <a:buFont typeface="Arial"/>
              <a:buChar char="•"/>
            </a:pP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</a:t>
            </a:r>
            <a:r>
              <a:rPr lang="en-US" sz="3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 bottle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76331" y="695325"/>
            <a:ext cx="18158441" cy="14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HARDWARE COMPONENTS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7829" y="2298693"/>
            <a:ext cx="11558622" cy="359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7" indent="-442594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Camera Module</a:t>
            </a:r>
          </a:p>
          <a:p>
            <a:pPr algn="l" marL="885187" indent="-442594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troller (Arduino)</a:t>
            </a:r>
          </a:p>
          <a:p>
            <a:pPr algn="l" marL="885187" indent="-442594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Servo Motor</a:t>
            </a:r>
          </a:p>
          <a:p>
            <a:pPr algn="l" marL="885187" indent="-442594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Ultrasonic Sensor</a:t>
            </a:r>
          </a:p>
          <a:p>
            <a:pPr algn="l" marL="885187" indent="-442594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Supply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5343" y="1753951"/>
            <a:ext cx="16737313" cy="7971795"/>
          </a:xfrm>
          <a:custGeom>
            <a:avLst/>
            <a:gdLst/>
            <a:ahLst/>
            <a:cxnLst/>
            <a:rect r="r" b="b" t="t" l="l"/>
            <a:pathLst>
              <a:path h="7971795" w="16737313">
                <a:moveTo>
                  <a:pt x="0" y="0"/>
                </a:moveTo>
                <a:lnTo>
                  <a:pt x="16737314" y="0"/>
                </a:lnTo>
                <a:lnTo>
                  <a:pt x="16737314" y="7971795"/>
                </a:lnTo>
                <a:lnTo>
                  <a:pt x="0" y="797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62" t="-15743" r="-2945" b="-42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565861" y="476111"/>
            <a:ext cx="13101030" cy="152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59"/>
              </a:lnSpc>
              <a:spcBef>
                <a:spcPct val="0"/>
              </a:spcBef>
            </a:pPr>
            <a:r>
              <a:rPr lang="en-US" sz="88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System</a:t>
            </a:r>
            <a:r>
              <a:rPr lang="en-US" sz="88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51201" y="667078"/>
            <a:ext cx="16585599" cy="9039151"/>
          </a:xfrm>
          <a:custGeom>
            <a:avLst/>
            <a:gdLst/>
            <a:ahLst/>
            <a:cxnLst/>
            <a:rect r="r" b="b" t="t" l="l"/>
            <a:pathLst>
              <a:path h="9039151" w="16585599">
                <a:moveTo>
                  <a:pt x="0" y="0"/>
                </a:moveTo>
                <a:lnTo>
                  <a:pt x="16585598" y="0"/>
                </a:lnTo>
                <a:lnTo>
                  <a:pt x="16585598" y="9039151"/>
                </a:lnTo>
                <a:lnTo>
                  <a:pt x="0" y="903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99810" y="6845781"/>
            <a:ext cx="999177" cy="291672"/>
          </a:xfrm>
          <a:custGeom>
            <a:avLst/>
            <a:gdLst/>
            <a:ahLst/>
            <a:cxnLst/>
            <a:rect r="r" b="b" t="t" l="l"/>
            <a:pathLst>
              <a:path h="291672" w="999177">
                <a:moveTo>
                  <a:pt x="0" y="0"/>
                </a:moveTo>
                <a:lnTo>
                  <a:pt x="999177" y="0"/>
                </a:lnTo>
                <a:lnTo>
                  <a:pt x="999177" y="291673"/>
                </a:lnTo>
                <a:lnTo>
                  <a:pt x="0" y="291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855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42450" y="8734539"/>
            <a:ext cx="1313073" cy="230214"/>
          </a:xfrm>
          <a:custGeom>
            <a:avLst/>
            <a:gdLst/>
            <a:ahLst/>
            <a:cxnLst/>
            <a:rect r="r" b="b" t="t" l="l"/>
            <a:pathLst>
              <a:path h="230214" w="1313073">
                <a:moveTo>
                  <a:pt x="0" y="0"/>
                </a:moveTo>
                <a:lnTo>
                  <a:pt x="1313073" y="0"/>
                </a:lnTo>
                <a:lnTo>
                  <a:pt x="1313073" y="230214"/>
                </a:lnTo>
                <a:lnTo>
                  <a:pt x="0" y="230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17681" y="8849646"/>
            <a:ext cx="1263113" cy="408654"/>
          </a:xfrm>
          <a:custGeom>
            <a:avLst/>
            <a:gdLst/>
            <a:ahLst/>
            <a:cxnLst/>
            <a:rect r="r" b="b" t="t" l="l"/>
            <a:pathLst>
              <a:path h="408654" w="1263113">
                <a:moveTo>
                  <a:pt x="0" y="0"/>
                </a:moveTo>
                <a:lnTo>
                  <a:pt x="1263112" y="0"/>
                </a:lnTo>
                <a:lnTo>
                  <a:pt x="1263112" y="408654"/>
                </a:lnTo>
                <a:lnTo>
                  <a:pt x="0" y="408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86686" y="5982698"/>
            <a:ext cx="1100783" cy="404561"/>
          </a:xfrm>
          <a:custGeom>
            <a:avLst/>
            <a:gdLst/>
            <a:ahLst/>
            <a:cxnLst/>
            <a:rect r="r" b="b" t="t" l="l"/>
            <a:pathLst>
              <a:path h="404561" w="1100783">
                <a:moveTo>
                  <a:pt x="0" y="0"/>
                </a:moveTo>
                <a:lnTo>
                  <a:pt x="1100783" y="0"/>
                </a:lnTo>
                <a:lnTo>
                  <a:pt x="1100783" y="404561"/>
                </a:lnTo>
                <a:lnTo>
                  <a:pt x="0" y="404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309685" y="504686"/>
            <a:ext cx="1320718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Working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18285"/>
            <a:ext cx="16230600" cy="821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proposed system operates through a combination of computer vision, sensor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detection, and mechanical actuation. The overall working process is explained in the following steps.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Object Monitoring</a:t>
            </a:r>
          </a:p>
          <a:p>
            <a:pPr algn="l" marL="626115" indent="-31305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camera module continuously captures real-time video of the surrounding area. The video frames are sent to the processing unit for analysis.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 Processing</a:t>
            </a:r>
          </a:p>
          <a:p>
            <a:pPr algn="l" marL="626115" indent="-31305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frame from the camera is processed using YOLOv11 object detection algorithm. The model analyzes the image and identifies objects present in the frame.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Object Detection and Classification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YOLOv11 model detects and classifies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only the trained objects, which include:</a:t>
            </a:r>
          </a:p>
          <a:p>
            <a:pPr algn="l" marL="626115" indent="-31305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Phone</a:t>
            </a:r>
          </a:p>
          <a:p>
            <a:pPr algn="l" marL="626115" indent="-31305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 Card</a:t>
            </a:r>
          </a:p>
          <a:p>
            <a:pPr algn="l" marL="626115" indent="-31305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Bottle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any of these objects are detected, the system highlights them with bounding boxes and identifies their position in the frame.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309685" y="504686"/>
            <a:ext cx="1320718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Working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83881"/>
            <a:ext cx="16230600" cy="784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Target Position Identification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detection, the coordinates of the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detected object are obtained from the model output. These coordinates are used to determine the direction in which the system must move to align with the object.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Servo Motor Control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dete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cted target position is sent to the microcontroller, which controls the servo motor. The servo motor rotates to align the shooting mechanism toward the detected object.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 Manual/Auto Shooting Mechanism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Once the target is aligned, the system waits for user confirmation if in manual mode.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manual shoot button is provided, and when pressed, it activates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trigger mechanism to perform the shooting action. Else in auto mode it fires immediately after detecting the target without any delay.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6200" y="2317743"/>
            <a:ext cx="18121730" cy="6138736"/>
          </a:xfrm>
          <a:custGeom>
            <a:avLst/>
            <a:gdLst/>
            <a:ahLst/>
            <a:cxnLst/>
            <a:rect r="r" b="b" t="t" l="l"/>
            <a:pathLst>
              <a:path h="6138736" w="18121730">
                <a:moveTo>
                  <a:pt x="0" y="0"/>
                </a:moveTo>
                <a:lnTo>
                  <a:pt x="18121730" y="0"/>
                </a:lnTo>
                <a:lnTo>
                  <a:pt x="18121730" y="6138736"/>
                </a:lnTo>
                <a:lnTo>
                  <a:pt x="0" y="6138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857250"/>
            <a:ext cx="15002040" cy="14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Simulink- Object out of range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0430" y="2189638"/>
            <a:ext cx="8513570" cy="6832140"/>
          </a:xfrm>
          <a:custGeom>
            <a:avLst/>
            <a:gdLst/>
            <a:ahLst/>
            <a:cxnLst/>
            <a:rect r="r" b="b" t="t" l="l"/>
            <a:pathLst>
              <a:path h="6832140" w="8513570">
                <a:moveTo>
                  <a:pt x="0" y="0"/>
                </a:moveTo>
                <a:lnTo>
                  <a:pt x="8513570" y="0"/>
                </a:lnTo>
                <a:lnTo>
                  <a:pt x="8513570" y="6832139"/>
                </a:lnTo>
                <a:lnTo>
                  <a:pt x="0" y="6832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60765" y="2189638"/>
            <a:ext cx="8513570" cy="6832140"/>
          </a:xfrm>
          <a:custGeom>
            <a:avLst/>
            <a:gdLst/>
            <a:ahLst/>
            <a:cxnLst/>
            <a:rect r="r" b="b" t="t" l="l"/>
            <a:pathLst>
              <a:path h="6832140" w="8513570">
                <a:moveTo>
                  <a:pt x="0" y="0"/>
                </a:moveTo>
                <a:lnTo>
                  <a:pt x="8513570" y="0"/>
                </a:lnTo>
                <a:lnTo>
                  <a:pt x="8513570" y="6832139"/>
                </a:lnTo>
                <a:lnTo>
                  <a:pt x="0" y="6832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476111"/>
            <a:ext cx="8986672" cy="147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OBSERVATIONS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320290"/>
            <a:ext cx="18456958" cy="5646420"/>
          </a:xfrm>
          <a:custGeom>
            <a:avLst/>
            <a:gdLst/>
            <a:ahLst/>
            <a:cxnLst/>
            <a:rect r="r" b="b" t="t" l="l"/>
            <a:pathLst>
              <a:path h="5646420" w="18456958">
                <a:moveTo>
                  <a:pt x="0" y="0"/>
                </a:moveTo>
                <a:lnTo>
                  <a:pt x="18456958" y="0"/>
                </a:lnTo>
                <a:lnTo>
                  <a:pt x="18456958" y="5646420"/>
                </a:lnTo>
                <a:lnTo>
                  <a:pt x="0" y="5646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1" r="0" b="-46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7500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859797"/>
            <a:ext cx="12763864" cy="14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Simulink Object in range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0430" y="2189638"/>
            <a:ext cx="8513570" cy="6832140"/>
          </a:xfrm>
          <a:custGeom>
            <a:avLst/>
            <a:gdLst/>
            <a:ahLst/>
            <a:cxnLst/>
            <a:rect r="r" b="b" t="t" l="l"/>
            <a:pathLst>
              <a:path h="6832140" w="8513570">
                <a:moveTo>
                  <a:pt x="0" y="0"/>
                </a:moveTo>
                <a:lnTo>
                  <a:pt x="8513570" y="0"/>
                </a:lnTo>
                <a:lnTo>
                  <a:pt x="8513570" y="6832139"/>
                </a:lnTo>
                <a:lnTo>
                  <a:pt x="0" y="6832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17353" y="2189638"/>
            <a:ext cx="8513570" cy="6832140"/>
          </a:xfrm>
          <a:custGeom>
            <a:avLst/>
            <a:gdLst/>
            <a:ahLst/>
            <a:cxnLst/>
            <a:rect r="r" b="b" t="t" l="l"/>
            <a:pathLst>
              <a:path h="6832140" w="8513570">
                <a:moveTo>
                  <a:pt x="0" y="0"/>
                </a:moveTo>
                <a:lnTo>
                  <a:pt x="8513570" y="0"/>
                </a:lnTo>
                <a:lnTo>
                  <a:pt x="8513570" y="6832139"/>
                </a:lnTo>
                <a:lnTo>
                  <a:pt x="0" y="6832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476111"/>
            <a:ext cx="8929283" cy="147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OBSERVATIONS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758007" y="883095"/>
            <a:ext cx="2108369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Remote Monitoring via Telegram Bot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6590"/>
            <a:ext cx="16230600" cy="82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it does:</a:t>
            </a:r>
          </a:p>
          <a:p>
            <a:pPr algn="l" marL="647705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confirmed target fire → sends instant Telegram message with timestamp</a:t>
            </a:r>
          </a:p>
          <a:p>
            <a:pPr algn="l" marL="647705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Automatically captures and sends a .jpg photo of the target</a:t>
            </a:r>
          </a:p>
          <a:p>
            <a:pPr algn="l" marL="647705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Enables remote operator awareness even when away from the system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it works (from your code):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DETECTED → FIRE CONFIRMED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↓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save target_{timestamp}.jpg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↓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 /sendMessage  →  "🚨 TARGET ELIMINATED"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 /sendPhoto    →  Target image attached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it matters: Adds a real cyber-physical systems layer — physical event triggers digital notification, closing the CPS feedback loop your course focuses on.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69402" y="1908764"/>
            <a:ext cx="13628874" cy="7651161"/>
          </a:xfrm>
          <a:custGeom>
            <a:avLst/>
            <a:gdLst/>
            <a:ahLst/>
            <a:cxnLst/>
            <a:rect r="r" b="b" t="t" l="l"/>
            <a:pathLst>
              <a:path h="7651161" w="13628874">
                <a:moveTo>
                  <a:pt x="0" y="0"/>
                </a:moveTo>
                <a:lnTo>
                  <a:pt x="13628874" y="0"/>
                </a:lnTo>
                <a:lnTo>
                  <a:pt x="13628874" y="7651161"/>
                </a:lnTo>
                <a:lnTo>
                  <a:pt x="0" y="7651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82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860" r="0" b="-386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037120" y="322537"/>
            <a:ext cx="9029714" cy="300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RADAR</a:t>
            </a:r>
          </a:p>
          <a:p>
            <a:pPr algn="ctr">
              <a:lnSpc>
                <a:spcPts val="12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887" y="624910"/>
            <a:ext cx="5470093" cy="147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680" y="2025714"/>
            <a:ext cx="16082318" cy="57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successfully detects: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</a:t>
            </a: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bile Phones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 Car</a:t>
            </a: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ds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Bottles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Advantages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accurate than ultrasonic-only system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Vision-based detection</a:t>
            </a: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controlled firing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3836" y="3293057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8" y="0"/>
                </a:lnTo>
                <a:lnTo>
                  <a:pt x="12855768" y="3102938"/>
                </a:lnTo>
                <a:lnTo>
                  <a:pt x="0" y="310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887" y="634435"/>
            <a:ext cx="18267113" cy="137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Limitations &amp; Future Enhancements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680" y="2035239"/>
            <a:ext cx="16082318" cy="778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Limitations: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Detection accuracy drops in low-light or occluded conditions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YOLO runs on CPU — causes latency (~200-400ms per frame)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Fixed camera FOV limits detection range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depends on USB serial; wireless control not yet implemented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Custom-trained model (best.pt) still needs more training data for ID cards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Enhancements: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GPU acceleration (your gpu.py already checks for CUDA — wire it in!)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Pan-tilt dual-axis servo for full 2D tracking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Upgrade to custom-trained YOLOv11 model replacing COCO classes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night-vision / IR camera support</a:t>
            </a:r>
          </a:p>
          <a:p>
            <a:pPr algn="l" marL="734064" indent="-367032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Telegram integration to include live video stream alerts</a:t>
            </a:r>
          </a:p>
          <a:p>
            <a:pPr algn="l">
              <a:lnSpc>
                <a:spcPts val="47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3836" y="3293057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8" y="0"/>
                </a:lnTo>
                <a:lnTo>
                  <a:pt x="12855768" y="3102938"/>
                </a:lnTo>
                <a:lnTo>
                  <a:pt x="0" y="310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3788156" y="476111"/>
            <a:ext cx="14438638" cy="147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680" y="1781810"/>
            <a:ext cx="16082318" cy="66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proposed system integrates YOLOv11-based object detection with a camera module and s</a:t>
            </a: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ervo control to create an i</a:t>
            </a: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mproved smart detection mechanism. The system successfully identifies specific objects such as mobile phones, ID cards, and water bottles in real time. Compared to the previous ultrasonic-only system, this approach provides more accurate and intelligent detection. The addition of a manual shoot button ensures better control and safety during operation. Overall, the project demonstrates the effectiveness of combining AI-based vision systems with embedded hardware for security applications.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3836" y="3293057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8" y="0"/>
                </a:lnTo>
                <a:lnTo>
                  <a:pt x="12855768" y="3102938"/>
                </a:lnTo>
                <a:lnTo>
                  <a:pt x="0" y="310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4" y="4035928"/>
            <a:ext cx="12547592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480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THANK YOU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94305" y="-225953"/>
            <a:ext cx="14052410" cy="873514"/>
            <a:chOff x="0" y="0"/>
            <a:chExt cx="3701046" cy="230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4549" y="9725746"/>
            <a:ext cx="14052410" cy="873514"/>
            <a:chOff x="0" y="0"/>
            <a:chExt cx="3701046" cy="2300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1046" cy="230061"/>
            </a:xfrm>
            <a:custGeom>
              <a:avLst/>
              <a:gdLst/>
              <a:ahLst/>
              <a:cxnLst/>
              <a:rect r="r" b="b" t="t" l="l"/>
              <a:pathLst>
                <a:path h="230061" w="3701046">
                  <a:moveTo>
                    <a:pt x="28098" y="0"/>
                  </a:moveTo>
                  <a:lnTo>
                    <a:pt x="3672949" y="0"/>
                  </a:lnTo>
                  <a:cubicBezTo>
                    <a:pt x="3688466" y="0"/>
                    <a:pt x="3701046" y="12580"/>
                    <a:pt x="3701046" y="28098"/>
                  </a:cubicBezTo>
                  <a:lnTo>
                    <a:pt x="3701046" y="201964"/>
                  </a:lnTo>
                  <a:cubicBezTo>
                    <a:pt x="3701046" y="209416"/>
                    <a:pt x="3698086" y="216562"/>
                    <a:pt x="3692816" y="221832"/>
                  </a:cubicBezTo>
                  <a:cubicBezTo>
                    <a:pt x="3687547" y="227101"/>
                    <a:pt x="3680401" y="230061"/>
                    <a:pt x="3672949" y="230061"/>
                  </a:cubicBezTo>
                  <a:lnTo>
                    <a:pt x="28098" y="230061"/>
                  </a:lnTo>
                  <a:cubicBezTo>
                    <a:pt x="20646" y="230061"/>
                    <a:pt x="13499" y="227101"/>
                    <a:pt x="8230" y="221832"/>
                  </a:cubicBezTo>
                  <a:cubicBezTo>
                    <a:pt x="2960" y="216562"/>
                    <a:pt x="0" y="209416"/>
                    <a:pt x="0" y="201964"/>
                  </a:cubicBezTo>
                  <a:lnTo>
                    <a:pt x="0" y="28098"/>
                  </a:lnTo>
                  <a:cubicBezTo>
                    <a:pt x="0" y="20646"/>
                    <a:pt x="2960" y="13499"/>
                    <a:pt x="8230" y="8230"/>
                  </a:cubicBezTo>
                  <a:cubicBezTo>
                    <a:pt x="13499" y="2960"/>
                    <a:pt x="20646" y="0"/>
                    <a:pt x="28098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01046" cy="27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55956" y="3742844"/>
            <a:ext cx="12855768" cy="3102938"/>
          </a:xfrm>
          <a:custGeom>
            <a:avLst/>
            <a:gdLst/>
            <a:ahLst/>
            <a:cxnLst/>
            <a:rect r="r" b="b" t="t" l="l"/>
            <a:pathLst>
              <a:path h="3102938" w="12855768">
                <a:moveTo>
                  <a:pt x="0" y="0"/>
                </a:moveTo>
                <a:lnTo>
                  <a:pt x="12855767" y="0"/>
                </a:lnTo>
                <a:lnTo>
                  <a:pt x="12855767" y="3102937"/>
                </a:lnTo>
                <a:lnTo>
                  <a:pt x="0" y="310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DAG7OCxpLZU</dc:identifier>
  <dcterms:modified xsi:type="dcterms:W3CDTF">2011-08-01T06:04:30Z</dcterms:modified>
  <cp:revision>1</cp:revision>
  <dc:title>CT Mid Project Review</dc:title>
</cp:coreProperties>
</file>